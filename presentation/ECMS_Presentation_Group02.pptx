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5F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95000</c:v>
                </c:pt>
                <c:pt idx="1">
                  <c:v>112000</c:v>
                </c:pt>
                <c:pt idx="2">
                  <c:v>125000</c:v>
                </c:pt>
                <c:pt idx="3">
                  <c:v>88000</c:v>
                </c:pt>
                <c:pt idx="4">
                  <c:v>140000</c:v>
                </c:pt>
                <c:pt idx="5">
                  <c:v>103000</c:v>
                </c:pt>
                <c:pt idx="6">
                  <c:v>72000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Consultant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Healthcare Platform for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Medical Consultants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337560"/>
            <a:ext cx="20116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4747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I.G.I. Chathuranga  ·  S16847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H.J. Jayawardhana  ·  S16842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G.S. Vignesh  ·  S16763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C.M.D.D. Silva  ·  S16743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M.V.T. Lakruwan  ·  S16989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Prabhath Liyanage  ·  IT 3008 IT Seminar  · 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411480"/>
            <a:ext cx="2560320" cy="429768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685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26364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6364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6364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Sri Lanka's healthcare system needs ECMS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Paper-Based Workflows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still rely on handwritten prescriptions, manual scheduling, and physical patient files that cannot be accessed at the point of care.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59152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No Unified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integrates appointments, prescriptions, patient history, and payments for Sri Lankan consultants.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21024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21024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Language Barriers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3250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support only English — excluding the majority of doctors and patients who communicate in Sinhala or Tamil.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09728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Unsafe Prescribing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5087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allergy history and past prescriptions are inaccessible at consultation, creating risk of harmful drug interactions.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35915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359152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450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Manual Revenue Tracking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77063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financial records — consultants manually track fees, resulting in errors, disputes, and no analytics.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56.3% internet penetration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47% smartphone ownership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80.6% rural population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1,700 medical professionals emigrated in 2022–23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 workflow. Every language.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86868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35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 is a fully integrated, role-based mobile platform that handles the complete consultant lifecycle — from appointment scheduling and QR-based patient check-in, to voice-powered e-prescriptions in Sinhala, Tamil, and English, real-time payment processing, and daily earnings analytics.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1965960" cy="2377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2316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prescriptions in Sinhala, Tamil, or English — NLP converts to digital format instantly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2423160"/>
            <a:ext cx="1965960" cy="2377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42316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6888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4290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unique QR per patient — scan on arrival to load full medical history &amp; alerts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423160"/>
            <a:ext cx="1965960" cy="2377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42316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34290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PayHere &amp; Stripe integration, eZcash/mCash support, auto invoices, digital receipts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2423160"/>
            <a:ext cx="1965960" cy="2377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242316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slots, lock sessions, block dates — hospital and patient notified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5 Interactive Screens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· Tailwind CSS · Lucide Icons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1792" y="1005840"/>
            <a:ext cx="1389888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15568"/>
            <a:ext cx="1261872" cy="2340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0961" y="1005840"/>
            <a:ext cx="611551" cy="1097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" y="36393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" y="38587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&amp; quick actions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49424" y="1005840"/>
            <a:ext cx="1389888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13432" y="1115568"/>
            <a:ext cx="1261872" cy="23408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38593" y="1005840"/>
            <a:ext cx="611551" cy="1097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2203704" y="36393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Prescription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203704" y="38587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speech-to-Rx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877056" y="1005840"/>
            <a:ext cx="1389888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41064" y="1115568"/>
            <a:ext cx="1261872" cy="234086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66225" y="1005840"/>
            <a:ext cx="611551" cy="1097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2"/>
          <p:cNvSpPr/>
          <p:nvPr/>
        </p:nvSpPr>
        <p:spPr>
          <a:xfrm>
            <a:off x="3831336" y="36393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831336" y="38587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patient records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504688" y="1005840"/>
            <a:ext cx="1389888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68696" y="1115568"/>
            <a:ext cx="1261872" cy="234086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893857" y="1005840"/>
            <a:ext cx="611551" cy="1097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16"/>
          <p:cNvSpPr/>
          <p:nvPr/>
        </p:nvSpPr>
        <p:spPr>
          <a:xfrm>
            <a:off x="5458968" y="36393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58968" y="38587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slots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132320" y="1005840"/>
            <a:ext cx="1389888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96328" y="1115568"/>
            <a:ext cx="1261872" cy="234086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521489" y="1005840"/>
            <a:ext cx="611551" cy="1097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0"/>
          <p:cNvSpPr/>
          <p:nvPr/>
        </p:nvSpPr>
        <p:spPr>
          <a:xfrm>
            <a:off x="7086600" y="36393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086600" y="38587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settings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Home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earnings, patient queue, and quick actions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3520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1682496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7707" y="1051560"/>
            <a:ext cx="844906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2606040" y="1097280"/>
            <a:ext cx="6217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06040" y="1097280"/>
            <a:ext cx="45720" cy="9144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1170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Earnings Header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1463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today's earnings (LKR 125,000), patient count, and daily percentage change vs yesterday.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2103120"/>
            <a:ext cx="6217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2103120"/>
            <a:ext cx="45720" cy="9144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0" y="21762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Quick Action Cards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0" y="2468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contextual action tiles — Voice Rx, QR Scan, Medicine DB, and Schedule. Single tap to navigate.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06040" y="3108960"/>
            <a:ext cx="6217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06040" y="3108960"/>
            <a:ext cx="45720" cy="9144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0" y="31821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Patient Status Queue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patient list with name, time, ID, and live status badges: Waiting, Done, or Next.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06040" y="4114800"/>
            <a:ext cx="6217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606040" y="4114800"/>
            <a:ext cx="45720" cy="9144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0" y="4187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Weekly Revenue Chart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743200" y="4480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bar chart summarising 7-day earnings. Total LKR 735,000 with 8% week-on-week growth indicator.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— Voice Prescription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Sinhala · Tamil · English  |  Real-time speech-to-text  |  Medical NLP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3520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1682496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7707" y="1051560"/>
            <a:ext cx="844906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2606040" y="10972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Voice-to-Prescription Pipeline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51760" y="1508760"/>
            <a:ext cx="1325880" cy="502920"/>
          </a:xfrm>
          <a:prstGeom prst="rect">
            <a:avLst/>
          </a:prstGeom>
          <a:solidFill>
            <a:srgbClr val="1E5FA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 Input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77640" y="1691640"/>
            <a:ext cx="18288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9"/>
          <p:cNvSpPr/>
          <p:nvPr/>
        </p:nvSpPr>
        <p:spPr>
          <a:xfrm>
            <a:off x="4160520" y="1508760"/>
            <a:ext cx="1325880" cy="502920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6052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STT Engine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1691640"/>
            <a:ext cx="18288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0" y="1508760"/>
            <a:ext cx="1325880" cy="502920"/>
          </a:xfrm>
          <a:prstGeom prst="rect">
            <a:avLst/>
          </a:prstGeom>
          <a:solidFill>
            <a:srgbClr val="6B21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Medical NLP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95160" y="1691640"/>
            <a:ext cx="18288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Shape 15"/>
          <p:cNvSpPr/>
          <p:nvPr/>
        </p:nvSpPr>
        <p:spPr>
          <a:xfrm>
            <a:off x="7178040" y="1508760"/>
            <a:ext cx="1325880" cy="50292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7804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Rx Draft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06040" y="2194560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606040" y="2194560"/>
            <a:ext cx="45720" cy="685800"/>
          </a:xfrm>
          <a:prstGeom prst="rect">
            <a:avLst/>
          </a:prstGeom>
          <a:solidFill>
            <a:srgbClr val="0F2D5C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0" y="2240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Language Selector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0" y="2468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large tap-friendly buttons for Sinhala (සිංහල), Tamil (தமிழ்), and English. Selected language is highlighted with a checkmark.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606040" y="2944368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606040" y="2944368"/>
            <a:ext cx="45720" cy="685800"/>
          </a:xfrm>
          <a:prstGeom prst="rect">
            <a:avLst/>
          </a:prstGeom>
          <a:solidFill>
            <a:srgbClr val="0F2D5C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0" y="29900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Animated Waveform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43200" y="321868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CSS waveform animation provides visual feedback while the microphone is active — confirms recording is in progress.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606040" y="3694176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606040" y="3694176"/>
            <a:ext cx="45720" cy="685800"/>
          </a:xfrm>
          <a:prstGeom prst="rect">
            <a:avLst/>
          </a:prstGeom>
          <a:solidFill>
            <a:srgbClr val="0F2D5C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0" y="37398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Generated Prescription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743200" y="39684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output shown in a monospace block with drug name, dosage, frequency, and duration — ready to review.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606040" y="4443984"/>
            <a:ext cx="6217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606040" y="4443984"/>
            <a:ext cx="45720" cy="685800"/>
          </a:xfrm>
          <a:prstGeom prst="rect">
            <a:avLst/>
          </a:prstGeom>
          <a:solidFill>
            <a:srgbClr val="0F2D5C"/>
          </a:solidFill>
          <a:ln/>
        </p:spPr>
      </p:sp>
      <p:sp>
        <p:nvSpPr>
          <p:cNvPr id="34" name="Text 31"/>
          <p:cNvSpPr/>
          <p:nvPr/>
        </p:nvSpPr>
        <p:spPr>
          <a:xfrm>
            <a:off x="2743200" y="44897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Approve &amp; Send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743200" y="47183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approval sends the prescription to the hospital pharmacy system and the patient's phone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— QR Patient Check-in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patient QR  |  Instant record access  |  Allergy alerts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3520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1682496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7707" y="1051560"/>
            <a:ext cx="844906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2606040" y="1097280"/>
            <a:ext cx="62179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06040" y="1097280"/>
            <a:ext cx="45720" cy="89611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11612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Camera QR Scanner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1444752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Full-viewport camera preview with real-time QR detection. Tap once to activate — no manual ID entry needed.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2084832"/>
            <a:ext cx="62179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2084832"/>
            <a:ext cx="45720" cy="89611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0" y="2148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Patient Record Card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0" y="2432304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card loads with name, ID, age, blood type, and a ✓ Verified badge — pulled from the encrypted QR payload.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06040" y="3072384"/>
            <a:ext cx="62179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06040" y="3072384"/>
            <a:ext cx="45720" cy="8961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0" y="3136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Allergy Warning Panel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0" y="3419856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drug allergies (e.g. Penicillin, Sulfa) displayed in a high-contrast red alert block, impossible to overlook.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06040" y="4059936"/>
            <a:ext cx="62179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606040" y="4059936"/>
            <a:ext cx="45720" cy="89611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0" y="41239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Consultation History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743200" y="440740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three visits with date and reason — scrollable. Tap any row to load the full prescription from that visit.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4 &amp; 5 — Schedule and Doctor Profile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appointment management and consultant credentials hub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828800" cy="3337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61288"/>
            <a:ext cx="1591056" cy="3118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" y="1051560"/>
            <a:ext cx="804672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2651760" y="1051560"/>
            <a:ext cx="1828800" cy="3337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161288"/>
            <a:ext cx="1591056" cy="31181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63824" y="1051560"/>
            <a:ext cx="804672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7"/>
          <p:cNvSpPr/>
          <p:nvPr/>
        </p:nvSpPr>
        <p:spPr>
          <a:xfrm>
            <a:off x="48463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46320" y="14173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stat cards — Total, Done, Pending with colour coding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rows colour-coded by status: ✓ done, ◉ in-progress, ○ upcoming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button on empty slots for walk-in additions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time slots displayed with patient name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463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46320" y="338328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card: MBBS, MD, SLMC registration number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 stats: 682 patients · 96.8% rating · LKR 3.2M earnings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to Settings, Notifications, Reports, Payments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Analytics sub-sections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Core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specification — system design and documented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0058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" y="1005840"/>
            <a:ext cx="1572768" cy="36576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56616" y="1463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Mgmt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" y="17556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Set/block/lock slots, auto-notify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48256" y="10058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1005840"/>
            <a:ext cx="1572768" cy="36576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93976" y="1463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93976" y="17556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mark, add emergency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85616" y="10058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85616" y="1005840"/>
            <a:ext cx="1572768" cy="3657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785616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31336" y="1463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31336" y="17556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Prescriptions, labs, history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22976" y="10058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22976" y="1005840"/>
            <a:ext cx="1572768" cy="3657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8696" y="1463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E-Prescriptions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68696" y="17556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Rx to phone &amp; pharmacy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0336" y="10058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1005840"/>
            <a:ext cx="1572768" cy="3657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260336" y="10972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06056" y="1463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06056" y="17556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lab requests, follow-ups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" y="23774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" y="2377440"/>
            <a:ext cx="1572768" cy="3657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56616" y="2834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" y="31272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cancellations, alerts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23774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48256" y="2377440"/>
            <a:ext cx="1572768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2048256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093976" y="2834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93976" y="31272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digital signatures, RBAC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85616" y="23774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85616" y="2377440"/>
            <a:ext cx="1572768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3785616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831336" y="2834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Collection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31336" y="31272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eZcash, mCash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22976" y="23774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22976" y="2377440"/>
            <a:ext cx="1572768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6" name="Text 44"/>
          <p:cNvSpPr/>
          <p:nvPr/>
        </p:nvSpPr>
        <p:spPr>
          <a:xfrm>
            <a:off x="5522976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568696" y="2834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Dash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68696" y="31272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charts, export PDF/Excel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60336" y="23774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60336" y="2377440"/>
            <a:ext cx="1572768" cy="36576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51" name="Text 49"/>
          <p:cNvSpPr/>
          <p:nvPr/>
        </p:nvSpPr>
        <p:spPr>
          <a:xfrm>
            <a:off x="7260336" y="2468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306056" y="2834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Rx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06056" y="31272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languages, templates, auto-fill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0896" y="37490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0896" y="3749040"/>
            <a:ext cx="1572768" cy="36576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56" name="Text 54"/>
          <p:cNvSpPr/>
          <p:nvPr/>
        </p:nvSpPr>
        <p:spPr>
          <a:xfrm>
            <a:off x="310896" y="38404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356616" y="42062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DB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56616" y="44988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drop, search, dosage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48256" y="37490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048256" y="3749040"/>
            <a:ext cx="1572768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1" name="Text 59"/>
          <p:cNvSpPr/>
          <p:nvPr/>
        </p:nvSpPr>
        <p:spPr>
          <a:xfrm>
            <a:off x="2048256" y="38404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2093976" y="42062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Patient History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093976" y="44988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QR, offline access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785616" y="3749040"/>
            <a:ext cx="1572768" cy="123444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785616" y="3749040"/>
            <a:ext cx="1572768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6" name="Text 64"/>
          <p:cNvSpPr/>
          <p:nvPr/>
        </p:nvSpPr>
        <p:spPr>
          <a:xfrm>
            <a:off x="3785616" y="38404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3831336" y="42062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831336" y="449884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PayHere, Stripe, PCI-DSS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Architecture · Security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731520"/>
          </a:xfrm>
          <a:prstGeom prst="rect">
            <a:avLst/>
          </a:prstGeom>
          <a:solidFill>
            <a:srgbClr val="1E5FA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React  ·  Tailwind CSS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16712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HTTPS / REST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731520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REST API  ·  JWT Auth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03580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HTTPS / REST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114800" cy="731520"/>
          </a:xfrm>
          <a:prstGeom prst="rect">
            <a:avLst/>
          </a:prstGeom>
          <a:solidFill>
            <a:srgbClr val="0F2D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  ·  AES-256 Encrypted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4630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463040"/>
            <a:ext cx="1920240" cy="27432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783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4630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1463040"/>
            <a:ext cx="1920240" cy="2743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1783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9718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971800"/>
            <a:ext cx="1920240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PayHere (SL)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eZcash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29718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0" y="2971800"/>
            <a:ext cx="1920240" cy="274320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STT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NLP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Encrypted QR Codes  ·  Digital Prescription Signatures  ·  Role-Based Access Control  ·  PCI-DSS Compliant  ·  GDPR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Financial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PayHere (Sri Lanka)  ·  Stripe (International)  ·  eZcash / mCash  ·  PCI-DSS Compliant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Weekly Revenue (LKR)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005840"/>
            <a:ext cx="3474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49240" y="1005840"/>
            <a:ext cx="45720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1069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Multi-Method Payments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and mobile wallets (eZcash, mCash) all handled within the same session checkout.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49240" y="2057400"/>
            <a:ext cx="3474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2057400"/>
            <a:ext cx="45720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Fee Breakdown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fee, service charges, and platform commission (10–15%) shown as itemised line items.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49240" y="3108960"/>
            <a:ext cx="3474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9240" y="3108960"/>
            <a:ext cx="45720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3172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Transaction IDs &amp; Receipts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generates a unique transaction ID and sends a digital receipt to the patient instantly.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49240" y="4160520"/>
            <a:ext cx="3474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49240" y="4160520"/>
            <a:ext cx="45720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Status Tracking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carries a real-time status: Pending, Completed, or Failed — filterable in the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Research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 ·  What the research confirmed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Outcomes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5720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fully interactive mobile screens built in React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45720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13 functional modules designed and documented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45720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flows validated with mock patient &amp; consultant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45720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Multilingual UI — Sinhala, Tamil, English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45720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 gateway architecture designed (PayHere + Stripe)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60520"/>
            <a:ext cx="45720" cy="47548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 encryption model documented with GDPR 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Seminar Research Findings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4173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6126480" y="1508760"/>
            <a:ext cx="18288" cy="6217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5819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appointments/year on Doc990 platform — validates market demand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3317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3317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9.5M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6126480" y="2423160"/>
            <a:ext cx="18288" cy="6217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4963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on HHIMS across 100 state hospitals — scale of need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2461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32461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6126480" y="3337560"/>
            <a:ext cx="18288" cy="6217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4107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ownership — justifies multi-channel access design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1605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41605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6126480" y="4251960"/>
            <a:ext cx="18288" cy="6217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43251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pilot hospitals reported improved care quality with digital records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approach from prototype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54864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207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828800"/>
            <a:ext cx="228600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9202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STT via Google Cloud Speech / OpenAI Whisper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EHR system connectivity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SLMC API — real-time doctor verification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97480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207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828800"/>
            <a:ext cx="228600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9202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module with auto-consultation notes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drug interaction checker in medicine DB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 for low-connectivity areas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16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97280"/>
            <a:ext cx="2697480" cy="54864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207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90488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1828800"/>
            <a:ext cx="228600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19202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 import (BP, glucose for chronic care)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/ multi-consultant central admin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OPD digitization and government hospital 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outcomes: 30–40% reduction in pharmacy queues  ·  Patient record access in seconds vs 15 minutes  ·  Full trilingual practice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11480" y="1508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1828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40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— IT 3008 IT Seminar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Prabhath Liyanage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I.G.I. Chathuranga  (S16847)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H.J. Jayawardhana  (S16842)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G.S. Vignesh  (S16763)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C.M.D.D. Silva  (S16743)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M.V.T. Lakruwan  (S16989)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548640"/>
            <a:ext cx="1188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640080"/>
            <a:ext cx="1042416" cy="1920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269480" y="548640"/>
            <a:ext cx="1188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640080"/>
            <a:ext cx="1042416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595360" y="548640"/>
            <a:ext cx="1188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640080"/>
            <a:ext cx="1042416" cy="19202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943600" y="2834640"/>
            <a:ext cx="1188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926080"/>
            <a:ext cx="1042416" cy="19202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269480" y="2834640"/>
            <a:ext cx="1188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2926080"/>
            <a:ext cx="1042416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Consultant Management System</dc:title>
  <dc:subject>ECMS — Mobile-First Healthcare Platform for Sri Lankan Medical Consultants</dc:subject>
  <dc:creator>Group 02 — IT 3008 IT Seminar</dc:creator>
  <cp:lastModifiedBy>Group 02 — IT 3008 IT Seminar</cp:lastModifiedBy>
  <cp:revision>1</cp:revision>
  <dcterms:created xsi:type="dcterms:W3CDTF">2026-04-27T03:25:56Z</dcterms:created>
  <dcterms:modified xsi:type="dcterms:W3CDTF">2026-04-27T03:25:56Z</dcterms:modified>
</cp:coreProperties>
</file>